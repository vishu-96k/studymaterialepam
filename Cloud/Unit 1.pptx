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3" r:id="rId32"/>
    <p:sldId id="294" r:id="rId33"/>
    <p:sldId id="26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62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CC406D3-1996-48CC-BFCD-BCD0B1309E0B}" type="datetimeFigureOut">
              <a:rPr lang="en-IN" smtClean="0"/>
              <a:t>08-09-2023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379944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406D3-1996-48CC-BFCD-BCD0B1309E0B}" type="datetimeFigureOut">
              <a:rPr lang="en-IN" smtClean="0"/>
              <a:t>08-09-2023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3075989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CC406D3-1996-48CC-BFCD-BCD0B1309E0B}" type="datetimeFigureOut">
              <a:rPr lang="en-IN" smtClean="0"/>
              <a:t>08-09-2023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2344506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CC406D3-1996-48CC-BFCD-BCD0B1309E0B}" type="datetimeFigureOut">
              <a:rPr lang="en-IN" smtClean="0"/>
              <a:t>08-09-2023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1722845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CC406D3-1996-48CC-BFCD-BCD0B1309E0B}" type="datetimeFigureOut">
              <a:rPr lang="en-IN" smtClean="0"/>
              <a:t>08-09-2023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617310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CC406D3-1996-48CC-BFCD-BCD0B1309E0B}" type="datetimeFigureOut">
              <a:rPr lang="en-IN" smtClean="0"/>
              <a:t>08-09-2023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3023744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C406D3-1996-48CC-BFCD-BCD0B1309E0B}" type="datetimeFigureOut">
              <a:rPr lang="en-IN" smtClean="0"/>
              <a:t>08-09-2023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422269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C406D3-1996-48CC-BFCD-BCD0B1309E0B}" type="datetimeFigureOut">
              <a:rPr lang="en-IN" smtClean="0"/>
              <a:t>08-09-2023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2619801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C406D3-1996-48CC-BFCD-BCD0B1309E0B}" type="datetimeFigureOut">
              <a:rPr lang="en-IN" smtClean="0"/>
              <a:t>08-09-2023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4290862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406D3-1996-48CC-BFCD-BCD0B1309E0B}" type="datetimeFigureOut">
              <a:rPr lang="en-IN" smtClean="0"/>
              <a:t>08-09-2023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54462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406D3-1996-48CC-BFCD-BCD0B1309E0B}" type="datetimeFigureOut">
              <a:rPr lang="en-IN" smtClean="0"/>
              <a:t>08-09-2023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1A06A1-DB34-459A-8AF2-1A32AF3724AE}" type="slidenum">
              <a:rPr lang="en-IN" smtClean="0"/>
              <a:t>‹#›</a:t>
            </a:fld>
            <a:endParaRPr lang="en-IN"/>
          </a:p>
        </p:txBody>
      </p:sp>
    </p:spTree>
    <p:extLst>
      <p:ext uri="{BB962C8B-B14F-4D97-AF65-F5344CB8AC3E}">
        <p14:creationId xmlns:p14="http://schemas.microsoft.com/office/powerpoint/2010/main" val="40046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406D3-1996-48CC-BFCD-BCD0B1309E0B}" type="datetimeFigureOut">
              <a:rPr lang="en-IN" smtClean="0"/>
              <a:t>08-09-2023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A06A1-DB34-459A-8AF2-1A32AF3724AE}" type="slidenum">
              <a:rPr lang="en-IN" smtClean="0"/>
              <a:t>‹#›</a:t>
            </a:fld>
            <a:endParaRPr lang="en-IN"/>
          </a:p>
        </p:txBody>
      </p:sp>
    </p:spTree>
    <p:extLst>
      <p:ext uri="{BB962C8B-B14F-4D97-AF65-F5344CB8AC3E}">
        <p14:creationId xmlns:p14="http://schemas.microsoft.com/office/powerpoint/2010/main" val="2017401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solidFill>
                  <a:srgbClr val="002060"/>
                </a:solidFill>
                <a:latin typeface="Calibri body"/>
              </a:rPr>
              <a:t>Introduction to Cloud Computing</a:t>
            </a:r>
            <a:br>
              <a:rPr lang="en-US" dirty="0" smtClean="0">
                <a:solidFill>
                  <a:srgbClr val="002060"/>
                </a:solidFill>
                <a:latin typeface="Calibri body"/>
              </a:rPr>
            </a:br>
            <a:endParaRPr lang="en-IN" dirty="0">
              <a:solidFill>
                <a:srgbClr val="002060"/>
              </a:solidFill>
              <a:latin typeface="Calibri body"/>
            </a:endParaRPr>
          </a:p>
        </p:txBody>
      </p:sp>
      <p:sp>
        <p:nvSpPr>
          <p:cNvPr id="3" name="Subtitle 2"/>
          <p:cNvSpPr>
            <a:spLocks noGrp="1"/>
          </p:cNvSpPr>
          <p:nvPr>
            <p:ph type="subTitle" idx="1"/>
          </p:nvPr>
        </p:nvSpPr>
        <p:spPr/>
        <p:txBody>
          <a:bodyPr>
            <a:normAutofit lnSpcReduction="10000"/>
          </a:bodyPr>
          <a:lstStyle/>
          <a:p>
            <a:r>
              <a:rPr lang="en-US" sz="3200" dirty="0" smtClean="0">
                <a:solidFill>
                  <a:srgbClr val="002060"/>
                </a:solidFill>
                <a:latin typeface="Calibri body"/>
              </a:rPr>
              <a:t>By</a:t>
            </a:r>
          </a:p>
          <a:p>
            <a:endParaRPr lang="en-US" sz="3200" dirty="0" smtClean="0">
              <a:solidFill>
                <a:srgbClr val="002060"/>
              </a:solidFill>
              <a:latin typeface="Calibri body"/>
            </a:endParaRPr>
          </a:p>
          <a:p>
            <a:r>
              <a:rPr lang="en-US" sz="3200" dirty="0" smtClean="0">
                <a:solidFill>
                  <a:srgbClr val="002060"/>
                </a:solidFill>
                <a:latin typeface="Calibri body"/>
              </a:rPr>
              <a:t>Mr. Amar More</a:t>
            </a:r>
            <a:endParaRPr lang="en-IN" sz="3200" dirty="0">
              <a:solidFill>
                <a:srgbClr val="002060"/>
              </a:solidFill>
              <a:latin typeface="Calibri body"/>
            </a:endParaRPr>
          </a:p>
        </p:txBody>
      </p:sp>
    </p:spTree>
    <p:extLst>
      <p:ext uri="{BB962C8B-B14F-4D97-AF65-F5344CB8AC3E}">
        <p14:creationId xmlns:p14="http://schemas.microsoft.com/office/powerpoint/2010/main" val="7434165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Definition</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r>
              <a:rPr lang="en-US" sz="2400" dirty="0"/>
              <a:t>Cloud computing is the on-demand delivery of IT resources over the Internet with pay-as-you-go </a:t>
            </a:r>
            <a:r>
              <a:rPr lang="en-US" sz="2400" dirty="0" smtClean="0"/>
              <a:t>pricing</a:t>
            </a:r>
          </a:p>
          <a:p>
            <a:r>
              <a:rPr lang="en-US" sz="2400" dirty="0"/>
              <a:t>Instead of buying, owning, and maintaining physical data centers and servers, you can access technology services, such as computing power, storage, and databases, on an as-needed basis from a cloud provider</a:t>
            </a:r>
            <a:endParaRPr lang="en-US" sz="2000" dirty="0" smtClean="0"/>
          </a:p>
        </p:txBody>
      </p:sp>
    </p:spTree>
    <p:extLst>
      <p:ext uri="{BB962C8B-B14F-4D97-AF65-F5344CB8AC3E}">
        <p14:creationId xmlns:p14="http://schemas.microsoft.com/office/powerpoint/2010/main" val="63458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Cost</a:t>
            </a:r>
          </a:p>
          <a:p>
            <a:r>
              <a:rPr lang="en-US" sz="2400" dirty="0" smtClean="0"/>
              <a:t>Moving </a:t>
            </a:r>
            <a:r>
              <a:rPr lang="en-US" sz="2400" dirty="0"/>
              <a:t>to the cloud helps companies optimize IT </a:t>
            </a:r>
            <a:r>
              <a:rPr lang="en-US" sz="2400" dirty="0" smtClean="0"/>
              <a:t>costs</a:t>
            </a:r>
          </a:p>
          <a:p>
            <a:r>
              <a:rPr lang="en-US" sz="2400" dirty="0"/>
              <a:t>This is because cloud computing eliminates the capital expense of buying hardware and software and setting up and running onsite </a:t>
            </a:r>
            <a:r>
              <a:rPr lang="en-US" sz="2400" dirty="0" smtClean="0"/>
              <a:t>datacenters</a:t>
            </a:r>
          </a:p>
          <a:p>
            <a:pPr lvl="1"/>
            <a:r>
              <a:rPr lang="en-IN" dirty="0"/>
              <a:t>the racks of </a:t>
            </a:r>
            <a:r>
              <a:rPr lang="en-IN" dirty="0" smtClean="0"/>
              <a:t>servers</a:t>
            </a:r>
          </a:p>
          <a:p>
            <a:pPr lvl="1"/>
            <a:r>
              <a:rPr lang="en-US" dirty="0"/>
              <a:t>the round-the-clock electricity for power and </a:t>
            </a:r>
            <a:r>
              <a:rPr lang="en-US" dirty="0" smtClean="0"/>
              <a:t>cooling</a:t>
            </a:r>
          </a:p>
          <a:p>
            <a:pPr lvl="1"/>
            <a:r>
              <a:rPr lang="en-US" dirty="0"/>
              <a:t> the IT experts for managing the infrastructure. It adds up </a:t>
            </a:r>
            <a:r>
              <a:rPr lang="en-US" dirty="0" smtClean="0"/>
              <a:t>fast</a:t>
            </a:r>
          </a:p>
          <a:p>
            <a:pPr marL="0" indent="0">
              <a:buNone/>
            </a:pPr>
            <a:r>
              <a:rPr lang="en-US" b="1" dirty="0" smtClean="0">
                <a:solidFill>
                  <a:schemeClr val="accent2">
                    <a:lumMod val="75000"/>
                  </a:schemeClr>
                </a:solidFill>
              </a:rPr>
              <a:t>Speed</a:t>
            </a:r>
          </a:p>
          <a:p>
            <a:r>
              <a:rPr lang="en-US" sz="2400" dirty="0"/>
              <a:t>Most cloud computing services are provided self service and on demand, so even vast amounts of computing resources can be provisioned in minutes, typically with just a few mouse clicks, giving businesses a lot of flexibility and taking the pressure off capacity planning</a:t>
            </a:r>
          </a:p>
          <a:p>
            <a:endParaRPr lang="en-US" b="1" dirty="0" smtClean="0"/>
          </a:p>
          <a:p>
            <a:pPr marL="0" indent="0">
              <a:buNone/>
            </a:pPr>
            <a:endParaRPr lang="en-US" b="1" dirty="0" smtClean="0">
              <a:solidFill>
                <a:schemeClr val="accent2">
                  <a:lumMod val="75000"/>
                </a:schemeClr>
              </a:solidFill>
            </a:endParaRPr>
          </a:p>
          <a:p>
            <a:endParaRPr lang="en-US" sz="2400" dirty="0" smtClean="0"/>
          </a:p>
        </p:txBody>
      </p:sp>
    </p:spTree>
    <p:extLst>
      <p:ext uri="{BB962C8B-B14F-4D97-AF65-F5344CB8AC3E}">
        <p14:creationId xmlns:p14="http://schemas.microsoft.com/office/powerpoint/2010/main" val="25201409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Global Scale</a:t>
            </a:r>
          </a:p>
          <a:p>
            <a:r>
              <a:rPr lang="en-US" sz="2400" dirty="0"/>
              <a:t>The benefits of cloud computing services include the ability to scale </a:t>
            </a:r>
            <a:r>
              <a:rPr lang="en-US" sz="2400" dirty="0" smtClean="0"/>
              <a:t>elastically</a:t>
            </a:r>
          </a:p>
          <a:p>
            <a:r>
              <a:rPr lang="en-US" sz="2400" dirty="0"/>
              <a:t>In cloud speak, that means delivering the right amount of IT </a:t>
            </a:r>
            <a:r>
              <a:rPr lang="en-US" sz="2400" dirty="0" smtClean="0"/>
              <a:t>resources</a:t>
            </a:r>
          </a:p>
          <a:p>
            <a:pPr lvl="1"/>
            <a:r>
              <a:rPr lang="en-US" dirty="0"/>
              <a:t>more or less computing </a:t>
            </a:r>
            <a:r>
              <a:rPr lang="en-US" dirty="0" smtClean="0"/>
              <a:t>power</a:t>
            </a:r>
          </a:p>
          <a:p>
            <a:pPr lvl="1"/>
            <a:r>
              <a:rPr lang="en-IN" dirty="0"/>
              <a:t>storage, </a:t>
            </a:r>
            <a:r>
              <a:rPr lang="en-IN" dirty="0" smtClean="0"/>
              <a:t>bandwidth</a:t>
            </a:r>
          </a:p>
          <a:p>
            <a:pPr lvl="1"/>
            <a:r>
              <a:rPr lang="en-US" dirty="0"/>
              <a:t>from the right geographic </a:t>
            </a:r>
            <a:r>
              <a:rPr lang="en-US" dirty="0" smtClean="0"/>
              <a:t>location</a:t>
            </a:r>
          </a:p>
          <a:p>
            <a:pPr marL="0" indent="0">
              <a:buNone/>
            </a:pPr>
            <a:r>
              <a:rPr lang="en-US" b="1" dirty="0" smtClean="0">
                <a:solidFill>
                  <a:schemeClr val="accent2">
                    <a:lumMod val="75000"/>
                  </a:schemeClr>
                </a:solidFill>
              </a:rPr>
              <a:t>Productivity</a:t>
            </a:r>
          </a:p>
          <a:p>
            <a:r>
              <a:rPr lang="en-US" sz="2400" dirty="0"/>
              <a:t>Onsite datacenters typically require a lot of “racking and stacking”—hardware setup, software patching, and other time-consuming IT management </a:t>
            </a:r>
            <a:r>
              <a:rPr lang="en-US" sz="2400" dirty="0" smtClean="0"/>
              <a:t>chores</a:t>
            </a:r>
          </a:p>
          <a:p>
            <a:r>
              <a:rPr lang="en-US" sz="2400" dirty="0"/>
              <a:t>Cloud computing removes the need for many of these tasks, so IT teams can spend time on achieving more important business goals</a:t>
            </a:r>
          </a:p>
          <a:p>
            <a:pPr marL="0" indent="0">
              <a:buNone/>
            </a:pPr>
            <a:endParaRPr lang="en-US" b="1" dirty="0" smtClean="0"/>
          </a:p>
          <a:p>
            <a:pPr marL="0" indent="0">
              <a:buNone/>
            </a:pPr>
            <a:endParaRPr lang="en-US" b="1" dirty="0" smtClean="0">
              <a:solidFill>
                <a:schemeClr val="accent2">
                  <a:lumMod val="75000"/>
                </a:schemeClr>
              </a:solidFill>
            </a:endParaRPr>
          </a:p>
          <a:p>
            <a:endParaRPr lang="en-US" sz="2400" dirty="0" smtClean="0"/>
          </a:p>
        </p:txBody>
      </p:sp>
    </p:spTree>
    <p:extLst>
      <p:ext uri="{BB962C8B-B14F-4D97-AF65-F5344CB8AC3E}">
        <p14:creationId xmlns:p14="http://schemas.microsoft.com/office/powerpoint/2010/main" val="898196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Performance</a:t>
            </a:r>
          </a:p>
          <a:p>
            <a:r>
              <a:rPr lang="en-US" sz="2400" dirty="0"/>
              <a:t>The biggest cloud computing services run on a worldwide network of secure datacenters, which are regularly upgraded to the latest generation of fast and efficient computing </a:t>
            </a:r>
            <a:r>
              <a:rPr lang="en-US" sz="2400" dirty="0" smtClean="0"/>
              <a:t>hardware</a:t>
            </a:r>
          </a:p>
          <a:p>
            <a:r>
              <a:rPr lang="en-US" sz="2400" dirty="0"/>
              <a:t>This offers several benefits over a single corporate datacenter, including reduced network latency for applications and greater economies of scale</a:t>
            </a:r>
          </a:p>
          <a:p>
            <a:pPr marL="0" indent="0">
              <a:buNone/>
            </a:pPr>
            <a:r>
              <a:rPr lang="en-US" b="1" dirty="0" smtClean="0">
                <a:solidFill>
                  <a:schemeClr val="accent2">
                    <a:lumMod val="75000"/>
                  </a:schemeClr>
                </a:solidFill>
              </a:rPr>
              <a:t>Reliability</a:t>
            </a:r>
          </a:p>
          <a:p>
            <a:r>
              <a:rPr lang="en-US" sz="2400" dirty="0"/>
              <a:t>Cloud computing makes data backup, disaster recovery, and business continuity easier and less expensive because data can be mirrored at multiple redundant sites on the cloud provider’s network</a:t>
            </a:r>
            <a:endParaRPr lang="en-US" b="1" dirty="0" smtClean="0"/>
          </a:p>
          <a:p>
            <a:pPr marL="0" indent="0">
              <a:buNone/>
            </a:pPr>
            <a:endParaRPr lang="en-US" b="1" dirty="0" smtClean="0">
              <a:solidFill>
                <a:schemeClr val="accent2">
                  <a:lumMod val="75000"/>
                </a:schemeClr>
              </a:solidFill>
            </a:endParaRPr>
          </a:p>
          <a:p>
            <a:endParaRPr lang="en-US" sz="2400" dirty="0" smtClean="0"/>
          </a:p>
        </p:txBody>
      </p:sp>
    </p:spTree>
    <p:extLst>
      <p:ext uri="{BB962C8B-B14F-4D97-AF65-F5344CB8AC3E}">
        <p14:creationId xmlns:p14="http://schemas.microsoft.com/office/powerpoint/2010/main" val="23339033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Security</a:t>
            </a:r>
          </a:p>
          <a:p>
            <a:r>
              <a:rPr lang="en-US" sz="2400" dirty="0"/>
              <a:t>Many cloud providers offer a broad set of policies, technologies, and controls that strengthen your security posture overall, helping protect your data, apps, and infrastructure from potential </a:t>
            </a:r>
            <a:r>
              <a:rPr lang="en-US" sz="2400" dirty="0" smtClean="0"/>
              <a:t>threats</a:t>
            </a:r>
          </a:p>
          <a:p>
            <a:pPr marL="0" indent="0">
              <a:buNone/>
            </a:pPr>
            <a:r>
              <a:rPr lang="en-US" b="1" dirty="0" smtClean="0">
                <a:solidFill>
                  <a:schemeClr val="accent2">
                    <a:lumMod val="75000"/>
                  </a:schemeClr>
                </a:solidFill>
              </a:rPr>
              <a:t>Agility</a:t>
            </a:r>
          </a:p>
          <a:p>
            <a:r>
              <a:rPr lang="en-US" sz="2400" dirty="0"/>
              <a:t>The cloud gives you easy access to a broad range of technologies so that you can innovate faster and build nearly anything that you can </a:t>
            </a:r>
            <a:r>
              <a:rPr lang="en-US" sz="2400" dirty="0" smtClean="0"/>
              <a:t>imagine</a:t>
            </a:r>
          </a:p>
          <a:p>
            <a:r>
              <a:rPr lang="en-US" sz="2400" dirty="0"/>
              <a:t>You can deploy technology services in a matter of minutes, and get from idea to implementation several orders of magnitude faster than before</a:t>
            </a:r>
            <a:endParaRPr lang="en-US" sz="2400" dirty="0" smtClean="0"/>
          </a:p>
          <a:p>
            <a:r>
              <a:rPr lang="en-US" sz="2400" dirty="0"/>
              <a:t>This gives you the freedom to experiment, test new ideas to differentiate customer experiences, and transform your business</a:t>
            </a:r>
            <a:endParaRPr lang="en-US" sz="2400" dirty="0" smtClean="0"/>
          </a:p>
        </p:txBody>
      </p:sp>
    </p:spTree>
    <p:extLst>
      <p:ext uri="{BB962C8B-B14F-4D97-AF65-F5344CB8AC3E}">
        <p14:creationId xmlns:p14="http://schemas.microsoft.com/office/powerpoint/2010/main" val="29132676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Elasticity</a:t>
            </a:r>
          </a:p>
          <a:p>
            <a:r>
              <a:rPr lang="en-US" sz="2400" dirty="0"/>
              <a:t>With cloud computing, you don’t have to over-provision resources up front to handle peak levels of business activity in the </a:t>
            </a:r>
            <a:r>
              <a:rPr lang="en-US" sz="2400" dirty="0" smtClean="0"/>
              <a:t>future</a:t>
            </a:r>
          </a:p>
          <a:p>
            <a:r>
              <a:rPr lang="en-US" sz="2400" dirty="0"/>
              <a:t>Instead, you provision the amount of resources that you actually </a:t>
            </a:r>
            <a:r>
              <a:rPr lang="en-US" sz="2400" dirty="0" smtClean="0"/>
              <a:t>need</a:t>
            </a:r>
          </a:p>
          <a:p>
            <a:r>
              <a:rPr lang="en-US" sz="2400" dirty="0"/>
              <a:t>You can scale these resources up or down to instantly grow and shrink capacity as your business needs </a:t>
            </a:r>
            <a:r>
              <a:rPr lang="en-US" sz="2400" dirty="0" smtClean="0"/>
              <a:t>change</a:t>
            </a:r>
            <a:endParaRPr lang="en-US" sz="2400" dirty="0"/>
          </a:p>
        </p:txBody>
      </p:sp>
    </p:spTree>
    <p:extLst>
      <p:ext uri="{BB962C8B-B14F-4D97-AF65-F5344CB8AC3E}">
        <p14:creationId xmlns:p14="http://schemas.microsoft.com/office/powerpoint/2010/main" val="16215836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Benefits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Elasticity</a:t>
            </a:r>
          </a:p>
          <a:p>
            <a:r>
              <a:rPr lang="en-US" sz="2400" dirty="0"/>
              <a:t>With cloud computing, you don’t have to over-provision resources up front to handle peak levels of business activity in the </a:t>
            </a:r>
            <a:r>
              <a:rPr lang="en-US" sz="2400" dirty="0" smtClean="0"/>
              <a:t>future</a:t>
            </a:r>
          </a:p>
          <a:p>
            <a:r>
              <a:rPr lang="en-US" sz="2400" dirty="0"/>
              <a:t>Instead, you provision the amount of resources that you actually </a:t>
            </a:r>
            <a:r>
              <a:rPr lang="en-US" sz="2400" dirty="0" smtClean="0"/>
              <a:t>need</a:t>
            </a:r>
          </a:p>
          <a:p>
            <a:r>
              <a:rPr lang="en-US" sz="2400" dirty="0"/>
              <a:t>You can scale these resources up or down to instantly grow and shrink capacity as your business needs </a:t>
            </a:r>
            <a:r>
              <a:rPr lang="en-US" sz="2400" dirty="0" smtClean="0"/>
              <a:t>change</a:t>
            </a:r>
            <a:endParaRPr lang="en-US" sz="2400" dirty="0"/>
          </a:p>
        </p:txBody>
      </p:sp>
    </p:spTree>
    <p:extLst>
      <p:ext uri="{BB962C8B-B14F-4D97-AF65-F5344CB8AC3E}">
        <p14:creationId xmlns:p14="http://schemas.microsoft.com/office/powerpoint/2010/main" val="34524974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Public Cloud</a:t>
            </a:r>
          </a:p>
          <a:p>
            <a:r>
              <a:rPr lang="en-US" dirty="0"/>
              <a:t>I</a:t>
            </a:r>
            <a:r>
              <a:rPr lang="en-US" dirty="0" smtClean="0"/>
              <a:t>s </a:t>
            </a:r>
            <a:r>
              <a:rPr lang="en-US" dirty="0"/>
              <a:t>available to the general public, and resources are shared between all </a:t>
            </a:r>
            <a:r>
              <a:rPr lang="en-US" dirty="0" smtClean="0"/>
              <a:t>users</a:t>
            </a:r>
          </a:p>
          <a:p>
            <a:r>
              <a:rPr lang="en-US" dirty="0"/>
              <a:t>They are available to anyone, from anywhere, using the </a:t>
            </a:r>
            <a:r>
              <a:rPr lang="en-US" dirty="0" smtClean="0"/>
              <a:t>Internet</a:t>
            </a:r>
          </a:p>
          <a:p>
            <a:r>
              <a:rPr lang="en-US" dirty="0"/>
              <a:t>This computing model is hosted at the vendor’s data </a:t>
            </a:r>
            <a:r>
              <a:rPr lang="en-US" dirty="0" smtClean="0"/>
              <a:t>center</a:t>
            </a:r>
          </a:p>
          <a:p>
            <a:r>
              <a:rPr lang="en-US" dirty="0"/>
              <a:t>The public cloud model makes the resources, such as storage and applications, available to the public over the </a:t>
            </a:r>
            <a:r>
              <a:rPr lang="en-US" dirty="0" smtClean="0"/>
              <a:t>WWW</a:t>
            </a:r>
          </a:p>
          <a:p>
            <a:r>
              <a:rPr lang="en-US" dirty="0"/>
              <a:t> It serves all the requests; therefore, resources are almost infinite</a:t>
            </a:r>
            <a:endParaRPr lang="en-US" dirty="0" smtClean="0"/>
          </a:p>
        </p:txBody>
      </p:sp>
    </p:spTree>
    <p:extLst>
      <p:ext uri="{BB962C8B-B14F-4D97-AF65-F5344CB8AC3E}">
        <p14:creationId xmlns:p14="http://schemas.microsoft.com/office/powerpoint/2010/main" val="2233820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767379"/>
          </a:xfrm>
        </p:spPr>
        <p:txBody>
          <a:bodyPr>
            <a:normAutofit/>
          </a:bodyPr>
          <a:lstStyle/>
          <a:p>
            <a:pPr marL="0" indent="0">
              <a:buNone/>
            </a:pPr>
            <a:r>
              <a:rPr lang="en-US" b="1" dirty="0" smtClean="0">
                <a:solidFill>
                  <a:schemeClr val="accent2">
                    <a:lumMod val="75000"/>
                  </a:schemeClr>
                </a:solidFill>
              </a:rPr>
              <a:t>Public Cloud Advantages:</a:t>
            </a:r>
          </a:p>
          <a:p>
            <a:r>
              <a:rPr lang="en-US" dirty="0"/>
              <a:t>Highly available anytime and anywhere, with robust permission and authentication </a:t>
            </a:r>
            <a:r>
              <a:rPr lang="en-US" dirty="0" smtClean="0"/>
              <a:t>mechanism</a:t>
            </a:r>
          </a:p>
          <a:p>
            <a:r>
              <a:rPr lang="en-US" dirty="0"/>
              <a:t>There is no need to maintain the </a:t>
            </a:r>
            <a:r>
              <a:rPr lang="en-US" dirty="0" smtClean="0"/>
              <a:t>cloud</a:t>
            </a:r>
          </a:p>
          <a:p>
            <a:r>
              <a:rPr lang="en-US" dirty="0"/>
              <a:t>Does not have any limit on the number of </a:t>
            </a:r>
            <a:r>
              <a:rPr lang="en-US" dirty="0" smtClean="0"/>
              <a:t>users</a:t>
            </a:r>
          </a:p>
          <a:p>
            <a:r>
              <a:rPr lang="en-US" dirty="0"/>
              <a:t>The cloud service providers fully subsidize the entire Infrastructure. Therefore, you don’t need to set up any </a:t>
            </a:r>
            <a:r>
              <a:rPr lang="en-US" dirty="0" smtClean="0"/>
              <a:t>hardware</a:t>
            </a:r>
          </a:p>
          <a:p>
            <a:r>
              <a:rPr lang="en-US" dirty="0"/>
              <a:t>Does not cost you any maintenance charges as the service provider does </a:t>
            </a:r>
            <a:r>
              <a:rPr lang="en-US" dirty="0" smtClean="0"/>
              <a:t>it</a:t>
            </a:r>
          </a:p>
          <a:p>
            <a:r>
              <a:rPr lang="en-US" dirty="0"/>
              <a:t>It works on the Pay as You Go model, so you don’t have to pay for items you don’t </a:t>
            </a:r>
            <a:r>
              <a:rPr lang="en-US" dirty="0" smtClean="0"/>
              <a:t>use</a:t>
            </a:r>
          </a:p>
          <a:p>
            <a:r>
              <a:rPr lang="en-US" dirty="0"/>
              <a:t>There is no significant upfront fee, making it excellent for enterprises that require immediate access to resources</a:t>
            </a:r>
            <a:endParaRPr lang="en-US" dirty="0" smtClean="0"/>
          </a:p>
          <a:p>
            <a:endParaRPr lang="en-US" dirty="0" smtClean="0"/>
          </a:p>
        </p:txBody>
      </p:sp>
    </p:spTree>
    <p:extLst>
      <p:ext uri="{BB962C8B-B14F-4D97-AF65-F5344CB8AC3E}">
        <p14:creationId xmlns:p14="http://schemas.microsoft.com/office/powerpoint/2010/main" val="2276115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767379"/>
          </a:xfrm>
        </p:spPr>
        <p:txBody>
          <a:bodyPr>
            <a:normAutofit/>
          </a:bodyPr>
          <a:lstStyle/>
          <a:p>
            <a:pPr marL="0" indent="0">
              <a:buNone/>
            </a:pPr>
            <a:r>
              <a:rPr lang="en-US" b="1" dirty="0" smtClean="0">
                <a:solidFill>
                  <a:schemeClr val="accent2">
                    <a:lumMod val="75000"/>
                  </a:schemeClr>
                </a:solidFill>
              </a:rPr>
              <a:t>Public Cloud Disadvantages:</a:t>
            </a:r>
          </a:p>
          <a:p>
            <a:r>
              <a:rPr lang="en-US" dirty="0"/>
              <a:t>It has lots of issues related to </a:t>
            </a:r>
            <a:r>
              <a:rPr lang="en-US" dirty="0" smtClean="0"/>
              <a:t>security</a:t>
            </a:r>
          </a:p>
          <a:p>
            <a:r>
              <a:rPr lang="en-US" dirty="0"/>
              <a:t>Privacy and organizational autonomy are not </a:t>
            </a:r>
            <a:r>
              <a:rPr lang="en-US" dirty="0" smtClean="0"/>
              <a:t>possible</a:t>
            </a:r>
          </a:p>
          <a:p>
            <a:r>
              <a:rPr lang="en-US" dirty="0"/>
              <a:t>You don’t control the systems hosting your business applications</a:t>
            </a:r>
            <a:endParaRPr lang="en-US" dirty="0" smtClean="0"/>
          </a:p>
        </p:txBody>
      </p:sp>
    </p:spTree>
    <p:extLst>
      <p:ext uri="{BB962C8B-B14F-4D97-AF65-F5344CB8AC3E}">
        <p14:creationId xmlns:p14="http://schemas.microsoft.com/office/powerpoint/2010/main" val="14764906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Private Cloud</a:t>
            </a:r>
          </a:p>
          <a:p>
            <a:r>
              <a:rPr lang="en-US" dirty="0"/>
              <a:t>It is a one-to-one environment for single use, so there is no need to share your hardware with anyone </a:t>
            </a:r>
            <a:r>
              <a:rPr lang="en-US" dirty="0" smtClean="0"/>
              <a:t>else</a:t>
            </a:r>
          </a:p>
          <a:p>
            <a:r>
              <a:rPr lang="en-US" dirty="0"/>
              <a:t> It is also referred to as “internal cloud,” which refers to the ability to access systems and services within an organization or </a:t>
            </a:r>
            <a:r>
              <a:rPr lang="en-US" dirty="0" smtClean="0"/>
              <a:t>border</a:t>
            </a:r>
          </a:p>
          <a:p>
            <a:r>
              <a:rPr lang="en-US" dirty="0"/>
              <a:t>You don’t share the hardware with any other users, as all the hardware is yours</a:t>
            </a:r>
            <a:endParaRPr lang="en-US" dirty="0" smtClean="0"/>
          </a:p>
        </p:txBody>
      </p:sp>
    </p:spTree>
    <p:extLst>
      <p:ext uri="{BB962C8B-B14F-4D97-AF65-F5344CB8AC3E}">
        <p14:creationId xmlns:p14="http://schemas.microsoft.com/office/powerpoint/2010/main" val="8985146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767379"/>
          </a:xfrm>
        </p:spPr>
        <p:txBody>
          <a:bodyPr>
            <a:normAutofit lnSpcReduction="10000"/>
          </a:bodyPr>
          <a:lstStyle/>
          <a:p>
            <a:pPr marL="0" indent="0">
              <a:buNone/>
            </a:pPr>
            <a:r>
              <a:rPr lang="en-US" b="1" dirty="0" smtClean="0">
                <a:solidFill>
                  <a:schemeClr val="accent2">
                    <a:lumMod val="75000"/>
                  </a:schemeClr>
                </a:solidFill>
              </a:rPr>
              <a:t>Private Cloud Advantages:</a:t>
            </a:r>
          </a:p>
          <a:p>
            <a:r>
              <a:rPr lang="en-US" dirty="0"/>
              <a:t>You have complete command over service integration, IT operations, policies, and user </a:t>
            </a:r>
            <a:r>
              <a:rPr lang="en-US" dirty="0" smtClean="0"/>
              <a:t>behavior</a:t>
            </a:r>
          </a:p>
          <a:p>
            <a:r>
              <a:rPr lang="en-US" dirty="0"/>
              <a:t>Companies can customize their solution according to market </a:t>
            </a:r>
            <a:r>
              <a:rPr lang="en-US" dirty="0" smtClean="0"/>
              <a:t>demands</a:t>
            </a:r>
          </a:p>
          <a:p>
            <a:r>
              <a:rPr lang="en-US" dirty="0"/>
              <a:t>It offers exceptional reliability in </a:t>
            </a:r>
            <a:r>
              <a:rPr lang="en-US" dirty="0" smtClean="0"/>
              <a:t>performance</a:t>
            </a:r>
          </a:p>
          <a:p>
            <a:r>
              <a:rPr lang="en-US" dirty="0"/>
              <a:t>A private cloud enables the company to tailor its solution to meet specific </a:t>
            </a:r>
            <a:r>
              <a:rPr lang="en-US" dirty="0" smtClean="0"/>
              <a:t>needs</a:t>
            </a:r>
          </a:p>
          <a:p>
            <a:r>
              <a:rPr lang="en-US" dirty="0"/>
              <a:t>It provides higher control over system configuration according to the company’s </a:t>
            </a:r>
            <a:r>
              <a:rPr lang="en-US" dirty="0" smtClean="0"/>
              <a:t>requirements</a:t>
            </a:r>
          </a:p>
          <a:p>
            <a:r>
              <a:rPr lang="en-US" dirty="0"/>
              <a:t>Private cloud works with legacy systems that cannot access the public </a:t>
            </a:r>
            <a:r>
              <a:rPr lang="en-US" dirty="0" smtClean="0"/>
              <a:t>cloud</a:t>
            </a:r>
          </a:p>
          <a:p>
            <a:r>
              <a:rPr lang="en-US" dirty="0"/>
              <a:t>You can incorporate as many security services as possible to secure your cloud</a:t>
            </a:r>
            <a:endParaRPr lang="en-US" dirty="0" smtClean="0"/>
          </a:p>
        </p:txBody>
      </p:sp>
    </p:spTree>
    <p:extLst>
      <p:ext uri="{BB962C8B-B14F-4D97-AF65-F5344CB8AC3E}">
        <p14:creationId xmlns:p14="http://schemas.microsoft.com/office/powerpoint/2010/main" val="9967231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767379"/>
          </a:xfrm>
        </p:spPr>
        <p:txBody>
          <a:bodyPr>
            <a:normAutofit/>
          </a:bodyPr>
          <a:lstStyle/>
          <a:p>
            <a:pPr marL="0" indent="0">
              <a:buNone/>
            </a:pPr>
            <a:r>
              <a:rPr lang="en-US" b="1" dirty="0" smtClean="0">
                <a:solidFill>
                  <a:schemeClr val="accent2">
                    <a:lumMod val="75000"/>
                  </a:schemeClr>
                </a:solidFill>
              </a:rPr>
              <a:t>Private Cloud Disadvantages:</a:t>
            </a:r>
          </a:p>
          <a:p>
            <a:r>
              <a:rPr lang="en-US" dirty="0"/>
              <a:t>It is a fully on-premises-hosted cloud that requires significant capital to purchase and maintain the necessary </a:t>
            </a:r>
            <a:r>
              <a:rPr lang="en-US" dirty="0" smtClean="0"/>
              <a:t>hardware</a:t>
            </a:r>
          </a:p>
          <a:p>
            <a:r>
              <a:rPr lang="en-US" dirty="0"/>
              <a:t>Companies that want extra computing power must take extra time and money to scale up their </a:t>
            </a:r>
            <a:r>
              <a:rPr lang="en-US" dirty="0" smtClean="0"/>
              <a:t>Infrastructure</a:t>
            </a:r>
          </a:p>
          <a:p>
            <a:r>
              <a:rPr lang="en-US" dirty="0"/>
              <a:t>Scalability depends on the choice of hardware</a:t>
            </a:r>
            <a:endParaRPr lang="en-US" dirty="0" smtClean="0"/>
          </a:p>
        </p:txBody>
      </p:sp>
    </p:spTree>
    <p:extLst>
      <p:ext uri="{BB962C8B-B14F-4D97-AF65-F5344CB8AC3E}">
        <p14:creationId xmlns:p14="http://schemas.microsoft.com/office/powerpoint/2010/main" val="13503957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Hybrid Cloud</a:t>
            </a:r>
          </a:p>
          <a:p>
            <a:r>
              <a:rPr lang="en-US" dirty="0"/>
              <a:t>A hybrid cloud deployment model combines public and private </a:t>
            </a:r>
            <a:r>
              <a:rPr lang="en-US" dirty="0" smtClean="0"/>
              <a:t>clouds</a:t>
            </a:r>
          </a:p>
          <a:p>
            <a:r>
              <a:rPr lang="en-US" dirty="0"/>
              <a:t>Creating a hybrid cloud computing model means that a company uses the public cloud but owns on-premises systems and provides a connection between the </a:t>
            </a:r>
            <a:r>
              <a:rPr lang="en-US" dirty="0" smtClean="0"/>
              <a:t>two</a:t>
            </a:r>
          </a:p>
          <a:p>
            <a:r>
              <a:rPr lang="en-US" dirty="0"/>
              <a:t>Some companies cannot operate solely in the public cloud because of security concerns or data protection requirements. So, they may select the hybrid cloud to combine the requirements with the benefits of a public </a:t>
            </a:r>
            <a:r>
              <a:rPr lang="en-US" dirty="0" smtClean="0"/>
              <a:t>cloud</a:t>
            </a:r>
          </a:p>
          <a:p>
            <a:r>
              <a:rPr lang="en-US" dirty="0"/>
              <a:t> It enables on-premises applications with sensitive data to run alongside public cloud applications</a:t>
            </a:r>
            <a:endParaRPr lang="en-US" dirty="0" smtClean="0"/>
          </a:p>
        </p:txBody>
      </p:sp>
    </p:spTree>
    <p:extLst>
      <p:ext uri="{BB962C8B-B14F-4D97-AF65-F5344CB8AC3E}">
        <p14:creationId xmlns:p14="http://schemas.microsoft.com/office/powerpoint/2010/main" val="2244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Hybrid Cloud Advantages:</a:t>
            </a:r>
          </a:p>
          <a:p>
            <a:r>
              <a:rPr lang="en-US" dirty="0"/>
              <a:t>It gives the power of both public and private </a:t>
            </a:r>
            <a:r>
              <a:rPr lang="en-US" dirty="0" smtClean="0"/>
              <a:t>clouds</a:t>
            </a:r>
          </a:p>
          <a:p>
            <a:r>
              <a:rPr lang="en-US" dirty="0"/>
              <a:t>It offers better security than the Public </a:t>
            </a:r>
            <a:r>
              <a:rPr lang="en-US" dirty="0" smtClean="0"/>
              <a:t>Cloud</a:t>
            </a:r>
          </a:p>
          <a:p>
            <a:r>
              <a:rPr lang="en-US" dirty="0"/>
              <a:t>Public clouds provide scalability. Therefore, you can only pay for the extra capacity if </a:t>
            </a:r>
            <a:r>
              <a:rPr lang="en-US" dirty="0" smtClean="0"/>
              <a:t>required</a:t>
            </a:r>
          </a:p>
          <a:p>
            <a:r>
              <a:rPr lang="en-US" dirty="0"/>
              <a:t>It enables businesses to be more flexible and to design personalized solutions that meet their particular </a:t>
            </a:r>
            <a:r>
              <a:rPr lang="en-US" dirty="0" smtClean="0"/>
              <a:t>needs</a:t>
            </a:r>
          </a:p>
          <a:p>
            <a:r>
              <a:rPr lang="en-US" dirty="0"/>
              <a:t>Data is separated correctly, so the chances of data theft by attackers are considerably </a:t>
            </a:r>
            <a:r>
              <a:rPr lang="en-US" dirty="0" smtClean="0"/>
              <a:t>reduced</a:t>
            </a:r>
          </a:p>
          <a:p>
            <a:r>
              <a:rPr lang="en-US" dirty="0"/>
              <a:t>It provides robust setup flexibility so that customers can customize their solutions to fit their requirements</a:t>
            </a:r>
            <a:endParaRPr lang="en-US" dirty="0" smtClean="0"/>
          </a:p>
        </p:txBody>
      </p:sp>
    </p:spTree>
    <p:extLst>
      <p:ext uri="{BB962C8B-B14F-4D97-AF65-F5344CB8AC3E}">
        <p14:creationId xmlns:p14="http://schemas.microsoft.com/office/powerpoint/2010/main" val="31110630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Hybrid Cloud Disadvantages:</a:t>
            </a:r>
          </a:p>
          <a:p>
            <a:r>
              <a:rPr lang="en-US" dirty="0"/>
              <a:t>It is applicable only when a company has varied use or demand for managing the </a:t>
            </a:r>
            <a:r>
              <a:rPr lang="en-US" dirty="0" smtClean="0"/>
              <a:t>workloads</a:t>
            </a:r>
          </a:p>
          <a:p>
            <a:r>
              <a:rPr lang="en-US" dirty="0"/>
              <a:t>Managing a hybrid cloud is complex, so if you use a hybrid cloud, you may spend too </a:t>
            </a:r>
            <a:r>
              <a:rPr lang="en-US" dirty="0" smtClean="0"/>
              <a:t>much</a:t>
            </a:r>
          </a:p>
          <a:p>
            <a:r>
              <a:rPr lang="en-US" dirty="0"/>
              <a:t>Its security features are not good as the Private Cloud</a:t>
            </a:r>
            <a:endParaRPr lang="en-US" dirty="0" smtClean="0"/>
          </a:p>
        </p:txBody>
      </p:sp>
    </p:spTree>
    <p:extLst>
      <p:ext uri="{BB962C8B-B14F-4D97-AF65-F5344CB8AC3E}">
        <p14:creationId xmlns:p14="http://schemas.microsoft.com/office/powerpoint/2010/main" val="3859537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Community Cloud</a:t>
            </a:r>
          </a:p>
          <a:p>
            <a:r>
              <a:rPr lang="en-US" dirty="0"/>
              <a:t>Community clouds are cloud-based infrastructure models that enable multiple organizations to share resources and services based on standard regulatory </a:t>
            </a:r>
            <a:r>
              <a:rPr lang="en-US" dirty="0" smtClean="0"/>
              <a:t>requirements</a:t>
            </a:r>
          </a:p>
          <a:p>
            <a:r>
              <a:rPr lang="en-US" dirty="0"/>
              <a:t>It provides a shared platform and resources for organizations to work on their business </a:t>
            </a:r>
            <a:r>
              <a:rPr lang="en-US" dirty="0" smtClean="0"/>
              <a:t>requirements</a:t>
            </a:r>
          </a:p>
          <a:p>
            <a:r>
              <a:rPr lang="en-US" dirty="0"/>
              <a:t>This Cloud Computing model is operated and managed by community members, third-party vendors, or </a:t>
            </a:r>
            <a:r>
              <a:rPr lang="en-US" dirty="0" smtClean="0"/>
              <a:t>both</a:t>
            </a:r>
          </a:p>
          <a:p>
            <a:r>
              <a:rPr lang="en-US" dirty="0"/>
              <a:t>The organizations that share standard business requirements make up the members of the community cloud</a:t>
            </a:r>
            <a:endParaRPr lang="en-US" dirty="0" smtClean="0"/>
          </a:p>
        </p:txBody>
      </p:sp>
    </p:spTree>
    <p:extLst>
      <p:ext uri="{BB962C8B-B14F-4D97-AF65-F5344CB8AC3E}">
        <p14:creationId xmlns:p14="http://schemas.microsoft.com/office/powerpoint/2010/main" val="37393253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Community Cloud Advantages:</a:t>
            </a:r>
          </a:p>
          <a:p>
            <a:r>
              <a:rPr lang="en-US" dirty="0"/>
              <a:t>You can establish a low-cost private </a:t>
            </a:r>
            <a:r>
              <a:rPr lang="en-US" dirty="0" smtClean="0"/>
              <a:t>cloud</a:t>
            </a:r>
          </a:p>
          <a:p>
            <a:r>
              <a:rPr lang="en-US" dirty="0"/>
              <a:t>It helps you to do collaborative work on the </a:t>
            </a:r>
            <a:r>
              <a:rPr lang="en-US" dirty="0" smtClean="0"/>
              <a:t>cloud</a:t>
            </a:r>
          </a:p>
          <a:p>
            <a:r>
              <a:rPr lang="en-US" dirty="0"/>
              <a:t>It is cost-effective, as multiple organizations or communities share the </a:t>
            </a:r>
            <a:r>
              <a:rPr lang="en-US" dirty="0" smtClean="0"/>
              <a:t>cloud</a:t>
            </a:r>
          </a:p>
          <a:p>
            <a:r>
              <a:rPr lang="en-US" dirty="0"/>
              <a:t>You can share resources, Infrastructure, etc., with multiple </a:t>
            </a:r>
            <a:r>
              <a:rPr lang="en-US" dirty="0" smtClean="0"/>
              <a:t>organizations</a:t>
            </a:r>
          </a:p>
          <a:p>
            <a:r>
              <a:rPr lang="en-US" dirty="0"/>
              <a:t>Gives better security than the public </a:t>
            </a:r>
            <a:r>
              <a:rPr lang="en-US" dirty="0" smtClean="0"/>
              <a:t>cloud</a:t>
            </a:r>
          </a:p>
          <a:p>
            <a:endParaRPr lang="en-US" dirty="0" smtClean="0"/>
          </a:p>
        </p:txBody>
      </p:sp>
    </p:spTree>
    <p:extLst>
      <p:ext uri="{BB962C8B-B14F-4D97-AF65-F5344CB8AC3E}">
        <p14:creationId xmlns:p14="http://schemas.microsoft.com/office/powerpoint/2010/main" val="22975994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Community Cloud Disadvantages:</a:t>
            </a:r>
          </a:p>
          <a:p>
            <a:r>
              <a:rPr lang="en-US" dirty="0"/>
              <a:t>Because of its restricted bandwidth and storage capacity, community resources often pose </a:t>
            </a:r>
            <a:r>
              <a:rPr lang="en-US" dirty="0" smtClean="0"/>
              <a:t>challenges</a:t>
            </a:r>
          </a:p>
          <a:p>
            <a:r>
              <a:rPr lang="en-US" dirty="0"/>
              <a:t>It is not a very popular and widely adopted cloud computing </a:t>
            </a:r>
            <a:r>
              <a:rPr lang="en-US" dirty="0" smtClean="0"/>
              <a:t>model</a:t>
            </a:r>
          </a:p>
          <a:p>
            <a:r>
              <a:rPr lang="en-US" dirty="0"/>
              <a:t>Security and segmentation are challenging to maintain</a:t>
            </a:r>
            <a:endParaRPr lang="en-US" dirty="0" smtClean="0"/>
          </a:p>
        </p:txBody>
      </p:sp>
    </p:spTree>
    <p:extLst>
      <p:ext uri="{BB962C8B-B14F-4D97-AF65-F5344CB8AC3E}">
        <p14:creationId xmlns:p14="http://schemas.microsoft.com/office/powerpoint/2010/main" val="23773759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err="1" smtClean="0">
                <a:solidFill>
                  <a:schemeClr val="accent2">
                    <a:lumMod val="75000"/>
                  </a:schemeClr>
                </a:solidFill>
              </a:rPr>
              <a:t>MultiCloud</a:t>
            </a:r>
            <a:endParaRPr lang="en-US" b="1" dirty="0" smtClean="0">
              <a:solidFill>
                <a:schemeClr val="accent2">
                  <a:lumMod val="75000"/>
                </a:schemeClr>
              </a:solidFill>
            </a:endParaRPr>
          </a:p>
          <a:p>
            <a:r>
              <a:rPr lang="en-US" dirty="0"/>
              <a:t>Multi-cloud computing refers to using public cloud services from many cloud service </a:t>
            </a:r>
            <a:r>
              <a:rPr lang="en-US" dirty="0" smtClean="0"/>
              <a:t>providers</a:t>
            </a:r>
          </a:p>
          <a:p>
            <a:r>
              <a:rPr lang="en-US" dirty="0"/>
              <a:t>A company must run workloads on IaaS or PaaS in a multi-cloud configuration from multiple vendors, such as Azure, AWS, or Google Cloud Platform</a:t>
            </a:r>
            <a:endParaRPr lang="en-US" dirty="0" smtClean="0"/>
          </a:p>
        </p:txBody>
      </p:sp>
    </p:spTree>
    <p:extLst>
      <p:ext uri="{BB962C8B-B14F-4D97-AF65-F5344CB8AC3E}">
        <p14:creationId xmlns:p14="http://schemas.microsoft.com/office/powerpoint/2010/main" val="14059430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err="1" smtClean="0">
                <a:solidFill>
                  <a:schemeClr val="accent2">
                    <a:lumMod val="75000"/>
                  </a:schemeClr>
                </a:solidFill>
              </a:rPr>
              <a:t>MultiCloud</a:t>
            </a:r>
            <a:r>
              <a:rPr lang="en-US" b="1" dirty="0" smtClean="0">
                <a:solidFill>
                  <a:schemeClr val="accent2">
                    <a:lumMod val="75000"/>
                  </a:schemeClr>
                </a:solidFill>
              </a:rPr>
              <a:t> Advantages:</a:t>
            </a:r>
          </a:p>
          <a:p>
            <a:r>
              <a:rPr lang="en-US" dirty="0"/>
              <a:t>A multi-cloud deployment model helps organizations choose the specific services that work best for </a:t>
            </a:r>
            <a:r>
              <a:rPr lang="en-US" dirty="0" smtClean="0"/>
              <a:t>them</a:t>
            </a:r>
          </a:p>
          <a:p>
            <a:r>
              <a:rPr lang="en-US" dirty="0"/>
              <a:t>It provides a reliable </a:t>
            </a:r>
            <a:r>
              <a:rPr lang="en-US" dirty="0" smtClean="0"/>
              <a:t>architecture</a:t>
            </a:r>
          </a:p>
          <a:p>
            <a:r>
              <a:rPr lang="en-US" dirty="0"/>
              <a:t>With multi-cloud models, companies can choose the best Cloud service provider based on contract options, flexibility with payments, and customizability of </a:t>
            </a:r>
            <a:r>
              <a:rPr lang="en-US" dirty="0" smtClean="0"/>
              <a:t>capacity</a:t>
            </a:r>
          </a:p>
          <a:p>
            <a:r>
              <a:rPr lang="en-US" dirty="0"/>
              <a:t>It allows you to select cloud regions and zones close to your clients</a:t>
            </a:r>
            <a:endParaRPr lang="en-US" dirty="0" smtClean="0"/>
          </a:p>
        </p:txBody>
      </p:sp>
    </p:spTree>
    <p:extLst>
      <p:ext uri="{BB962C8B-B14F-4D97-AF65-F5344CB8AC3E}">
        <p14:creationId xmlns:p14="http://schemas.microsoft.com/office/powerpoint/2010/main" val="3259314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Deployment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err="1" smtClean="0">
                <a:solidFill>
                  <a:schemeClr val="accent2">
                    <a:lumMod val="75000"/>
                  </a:schemeClr>
                </a:solidFill>
              </a:rPr>
              <a:t>MultiCloud</a:t>
            </a:r>
            <a:r>
              <a:rPr lang="en-US" b="1" dirty="0" smtClean="0">
                <a:solidFill>
                  <a:schemeClr val="accent2">
                    <a:lumMod val="75000"/>
                  </a:schemeClr>
                </a:solidFill>
              </a:rPr>
              <a:t> Disadvantages:</a:t>
            </a:r>
          </a:p>
          <a:p>
            <a:r>
              <a:rPr lang="en-US" dirty="0"/>
              <a:t>Multi-cloud adoption increases the complexity of your </a:t>
            </a:r>
            <a:r>
              <a:rPr lang="en-US" dirty="0" smtClean="0"/>
              <a:t>business</a:t>
            </a:r>
          </a:p>
          <a:p>
            <a:r>
              <a:rPr lang="en-US" dirty="0"/>
              <a:t>Finding developers, engineers, and cloud security experts who know multiple clouds is difficult</a:t>
            </a:r>
            <a:endParaRPr lang="en-US" dirty="0" smtClean="0"/>
          </a:p>
        </p:txBody>
      </p:sp>
    </p:spTree>
    <p:extLst>
      <p:ext uri="{BB962C8B-B14F-4D97-AF65-F5344CB8AC3E}">
        <p14:creationId xmlns:p14="http://schemas.microsoft.com/office/powerpoint/2010/main" val="8207073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IaaS (Infrastructure as a Service)</a:t>
            </a:r>
          </a:p>
          <a:p>
            <a:r>
              <a:rPr lang="en-US" dirty="0"/>
              <a:t>I</a:t>
            </a:r>
            <a:r>
              <a:rPr lang="en-US" dirty="0" smtClean="0"/>
              <a:t>s </a:t>
            </a:r>
            <a:r>
              <a:rPr lang="en-US" dirty="0"/>
              <a:t>a cloud computing service offering on-demand computing, storage, and networking </a:t>
            </a:r>
            <a:r>
              <a:rPr lang="en-US" dirty="0" smtClean="0"/>
              <a:t>resources</a:t>
            </a:r>
          </a:p>
          <a:p>
            <a:r>
              <a:rPr lang="en-US" dirty="0"/>
              <a:t>It usually works on a pay-as-you-go </a:t>
            </a:r>
            <a:r>
              <a:rPr lang="en-US" dirty="0" smtClean="0"/>
              <a:t>basis</a:t>
            </a:r>
          </a:p>
          <a:p>
            <a:r>
              <a:rPr lang="en-US" dirty="0"/>
              <a:t>Organizations can purchase resources on-demand and as needed instead of buying the hardware </a:t>
            </a:r>
            <a:r>
              <a:rPr lang="en-US" dirty="0" smtClean="0"/>
              <a:t>outright</a:t>
            </a:r>
          </a:p>
          <a:p>
            <a:r>
              <a:rPr lang="en-US" dirty="0"/>
              <a:t>It provides complete control over the hardware that runs your application (storage, servers, VMs, networks &amp; operating systems)</a:t>
            </a:r>
            <a:endParaRPr lang="en-US" dirty="0" smtClean="0"/>
          </a:p>
        </p:txBody>
      </p:sp>
    </p:spTree>
    <p:extLst>
      <p:ext uri="{BB962C8B-B14F-4D97-AF65-F5344CB8AC3E}">
        <p14:creationId xmlns:p14="http://schemas.microsoft.com/office/powerpoint/2010/main" val="32507312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IaaS (Infrastructure as a Service) Advantages:</a:t>
            </a:r>
          </a:p>
          <a:p>
            <a:r>
              <a:rPr lang="en-US" dirty="0"/>
              <a:t>Easy to automate the deployment of storage, networking, and </a:t>
            </a:r>
            <a:r>
              <a:rPr lang="en-US" dirty="0" smtClean="0"/>
              <a:t>servers</a:t>
            </a:r>
          </a:p>
          <a:p>
            <a:r>
              <a:rPr lang="en-US" dirty="0"/>
              <a:t>Hardware purchases can be based on </a:t>
            </a:r>
            <a:r>
              <a:rPr lang="en-US" dirty="0" smtClean="0"/>
              <a:t>consumption</a:t>
            </a:r>
          </a:p>
          <a:p>
            <a:r>
              <a:rPr lang="en-US" dirty="0"/>
              <a:t>Clients keep complete control of their underlying </a:t>
            </a:r>
            <a:r>
              <a:rPr lang="en-US" dirty="0" smtClean="0"/>
              <a:t>infrastructure</a:t>
            </a:r>
          </a:p>
          <a:p>
            <a:r>
              <a:rPr lang="en-US" dirty="0"/>
              <a:t>The provider can deploy the resources to a customer’s environment </a:t>
            </a:r>
            <a:r>
              <a:rPr lang="en-US" dirty="0" smtClean="0"/>
              <a:t>anytime</a:t>
            </a:r>
          </a:p>
          <a:p>
            <a:r>
              <a:rPr lang="en-US" dirty="0"/>
              <a:t>It can be scaled up or downsized according to your needs</a:t>
            </a:r>
            <a:endParaRPr lang="en-US" dirty="0" smtClean="0"/>
          </a:p>
        </p:txBody>
      </p:sp>
    </p:spTree>
    <p:extLst>
      <p:ext uri="{BB962C8B-B14F-4D97-AF65-F5344CB8AC3E}">
        <p14:creationId xmlns:p14="http://schemas.microsoft.com/office/powerpoint/2010/main" val="1088010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IaaS (Infrastructure as a Service) Disadvantages:</a:t>
            </a:r>
          </a:p>
          <a:p>
            <a:r>
              <a:rPr lang="en-US" dirty="0"/>
              <a:t>You should ensure that your apps and operating systems are working correctly and providing the utmost </a:t>
            </a:r>
            <a:r>
              <a:rPr lang="en-US" dirty="0" smtClean="0"/>
              <a:t>security</a:t>
            </a:r>
          </a:p>
          <a:p>
            <a:r>
              <a:rPr lang="en-US" dirty="0"/>
              <a:t>You’re in charge of the data, so if any of it is lost, it’s up to you to recover </a:t>
            </a:r>
            <a:r>
              <a:rPr lang="en-US" dirty="0" smtClean="0"/>
              <a:t>it</a:t>
            </a:r>
          </a:p>
          <a:p>
            <a:r>
              <a:rPr lang="en-US" dirty="0"/>
              <a:t>IaaS firms only provide the servers and API, so you must configure everything else</a:t>
            </a:r>
            <a:endParaRPr lang="en-US" dirty="0" smtClean="0"/>
          </a:p>
        </p:txBody>
      </p:sp>
    </p:spTree>
    <p:extLst>
      <p:ext uri="{BB962C8B-B14F-4D97-AF65-F5344CB8AC3E}">
        <p14:creationId xmlns:p14="http://schemas.microsoft.com/office/powerpoint/2010/main" val="13433988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a:solidFill>
                  <a:schemeClr val="accent2">
                    <a:lumMod val="75000"/>
                  </a:schemeClr>
                </a:solidFill>
              </a:rPr>
              <a:t>P</a:t>
            </a:r>
            <a:r>
              <a:rPr lang="en-US" b="1" dirty="0" smtClean="0">
                <a:solidFill>
                  <a:schemeClr val="accent2">
                    <a:lumMod val="75000"/>
                  </a:schemeClr>
                </a:solidFill>
              </a:rPr>
              <a:t>aaS (Platform as a Service)</a:t>
            </a:r>
          </a:p>
          <a:p>
            <a:r>
              <a:rPr lang="en-US" dirty="0"/>
              <a:t>P</a:t>
            </a:r>
            <a:r>
              <a:rPr lang="en-US" dirty="0" smtClean="0"/>
              <a:t>rovides </a:t>
            </a:r>
            <a:r>
              <a:rPr lang="en-US" dirty="0"/>
              <a:t>a cloud computing framework for software application creation and </a:t>
            </a:r>
            <a:r>
              <a:rPr lang="en-US" dirty="0" smtClean="0"/>
              <a:t>deployment</a:t>
            </a:r>
          </a:p>
          <a:p>
            <a:r>
              <a:rPr lang="en-US" dirty="0"/>
              <a:t>It is a platform for the deployment and management of software </a:t>
            </a:r>
            <a:r>
              <a:rPr lang="en-US" dirty="0" smtClean="0"/>
              <a:t>apps</a:t>
            </a:r>
          </a:p>
          <a:p>
            <a:r>
              <a:rPr lang="en-US" dirty="0"/>
              <a:t>It also manages the servers, storage, and networking, while the developers manage only the application </a:t>
            </a:r>
            <a:r>
              <a:rPr lang="en-US" dirty="0" smtClean="0"/>
              <a:t>part</a:t>
            </a:r>
          </a:p>
          <a:p>
            <a:r>
              <a:rPr lang="en-US" dirty="0"/>
              <a:t>It also manages the servers, storage, and networking, while the developers manage only the application </a:t>
            </a:r>
            <a:r>
              <a:rPr lang="en-US" dirty="0" smtClean="0"/>
              <a:t>part</a:t>
            </a:r>
          </a:p>
          <a:p>
            <a:r>
              <a:rPr lang="en-US" dirty="0"/>
              <a:t>This cloud computing model enables developers to rapidly develop, run, and manage their apps without building and maintaining the infrastructure or platform</a:t>
            </a:r>
            <a:endParaRPr lang="en-US" dirty="0" smtClean="0"/>
          </a:p>
        </p:txBody>
      </p:sp>
    </p:spTree>
    <p:extLst>
      <p:ext uri="{BB962C8B-B14F-4D97-AF65-F5344CB8AC3E}">
        <p14:creationId xmlns:p14="http://schemas.microsoft.com/office/powerpoint/2010/main" val="28475188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a:solidFill>
                  <a:schemeClr val="accent2">
                    <a:lumMod val="75000"/>
                  </a:schemeClr>
                </a:solidFill>
              </a:rPr>
              <a:t>P</a:t>
            </a:r>
            <a:r>
              <a:rPr lang="en-US" b="1" dirty="0" smtClean="0">
                <a:solidFill>
                  <a:schemeClr val="accent2">
                    <a:lumMod val="75000"/>
                  </a:schemeClr>
                </a:solidFill>
              </a:rPr>
              <a:t>aaS (Platform as a Service) Advantages:</a:t>
            </a:r>
          </a:p>
          <a:p>
            <a:r>
              <a:rPr lang="en-US" dirty="0"/>
              <a:t>Simple, cost-effective development and deployment of </a:t>
            </a:r>
            <a:r>
              <a:rPr lang="en-US" dirty="0" smtClean="0"/>
              <a:t>apps</a:t>
            </a:r>
          </a:p>
          <a:p>
            <a:r>
              <a:rPr lang="en-US" dirty="0"/>
              <a:t>Provide automation of Business Policy</a:t>
            </a:r>
          </a:p>
          <a:p>
            <a:r>
              <a:rPr lang="en-US" dirty="0"/>
              <a:t>It allows developers to build applications without the overhead of the underlying operating system or cloud infrastructure</a:t>
            </a:r>
          </a:p>
          <a:p>
            <a:r>
              <a:rPr lang="en-US" dirty="0"/>
              <a:t>Offers freedom to developers to focus on the application’s design while the platform takes care of the language and the database</a:t>
            </a:r>
          </a:p>
          <a:p>
            <a:endParaRPr lang="en-US" dirty="0"/>
          </a:p>
        </p:txBody>
      </p:sp>
    </p:spTree>
    <p:extLst>
      <p:ext uri="{BB962C8B-B14F-4D97-AF65-F5344CB8AC3E}">
        <p14:creationId xmlns:p14="http://schemas.microsoft.com/office/powerpoint/2010/main" val="22234917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a:solidFill>
                  <a:schemeClr val="accent2">
                    <a:lumMod val="75000"/>
                  </a:schemeClr>
                </a:solidFill>
              </a:rPr>
              <a:t>P</a:t>
            </a:r>
            <a:r>
              <a:rPr lang="en-US" b="1" dirty="0" smtClean="0">
                <a:solidFill>
                  <a:schemeClr val="accent2">
                    <a:lumMod val="75000"/>
                  </a:schemeClr>
                </a:solidFill>
              </a:rPr>
              <a:t>aaS (Platform as a Service) Disadvantages:</a:t>
            </a:r>
          </a:p>
          <a:p>
            <a:r>
              <a:rPr lang="en-US" dirty="0"/>
              <a:t>You have control over the app’s code and not its </a:t>
            </a:r>
            <a:r>
              <a:rPr lang="en-US" dirty="0" smtClean="0"/>
              <a:t>infrastructure</a:t>
            </a:r>
          </a:p>
          <a:p>
            <a:r>
              <a:rPr lang="en-US" dirty="0"/>
              <a:t>The PaaS organization stores your data, so it sometimes poses a security risk to your app’s </a:t>
            </a:r>
            <a:r>
              <a:rPr lang="en-US" dirty="0" smtClean="0"/>
              <a:t>users</a:t>
            </a:r>
          </a:p>
          <a:p>
            <a:r>
              <a:rPr lang="en-US" dirty="0"/>
              <a:t>Vendors provide varying service levels, so selecting the right services is </a:t>
            </a:r>
            <a:r>
              <a:rPr lang="en-US" dirty="0" smtClean="0"/>
              <a:t>essential</a:t>
            </a:r>
          </a:p>
          <a:p>
            <a:r>
              <a:rPr lang="en-US" dirty="0"/>
              <a:t>The risk of lock-in with a vendor may affect the ecosystem you need for your development environment</a:t>
            </a:r>
          </a:p>
        </p:txBody>
      </p:sp>
    </p:spTree>
    <p:extLst>
      <p:ext uri="{BB962C8B-B14F-4D97-AF65-F5344CB8AC3E}">
        <p14:creationId xmlns:p14="http://schemas.microsoft.com/office/powerpoint/2010/main" val="27960554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SaaS (Software as a Service)</a:t>
            </a:r>
          </a:p>
          <a:p>
            <a:r>
              <a:rPr lang="en-US" dirty="0"/>
              <a:t> I</a:t>
            </a:r>
            <a:r>
              <a:rPr lang="en-US" dirty="0" smtClean="0"/>
              <a:t>s </a:t>
            </a:r>
            <a:r>
              <a:rPr lang="en-US" dirty="0"/>
              <a:t>a web-based deployment model that makes the software accessible through a web </a:t>
            </a:r>
            <a:r>
              <a:rPr lang="en-US" dirty="0" smtClean="0"/>
              <a:t>browser</a:t>
            </a:r>
          </a:p>
          <a:p>
            <a:r>
              <a:rPr lang="en-US" dirty="0"/>
              <a:t> SaaS software users don’t need to care where the software is hosted, which operating system it uses, or even which programming language it is written </a:t>
            </a:r>
            <a:r>
              <a:rPr lang="en-US" dirty="0" smtClean="0"/>
              <a:t>in</a:t>
            </a:r>
          </a:p>
          <a:p>
            <a:r>
              <a:rPr lang="en-US" dirty="0"/>
              <a:t>The SaaS software is accessible from any device with an internet </a:t>
            </a:r>
            <a:r>
              <a:rPr lang="en-US" dirty="0" smtClean="0"/>
              <a:t>connection</a:t>
            </a:r>
          </a:p>
          <a:p>
            <a:r>
              <a:rPr lang="en-US" dirty="0"/>
              <a:t>This cloud service model ensures that consumers always use the most current version of the </a:t>
            </a:r>
            <a:r>
              <a:rPr lang="en-US" dirty="0" smtClean="0"/>
              <a:t>software</a:t>
            </a:r>
          </a:p>
          <a:p>
            <a:r>
              <a:rPr lang="en-US" dirty="0"/>
              <a:t>The SaaS provider handles maintenance and support</a:t>
            </a:r>
            <a:endParaRPr lang="en-US" dirty="0" smtClean="0"/>
          </a:p>
        </p:txBody>
      </p:sp>
    </p:spTree>
    <p:extLst>
      <p:ext uri="{BB962C8B-B14F-4D97-AF65-F5344CB8AC3E}">
        <p14:creationId xmlns:p14="http://schemas.microsoft.com/office/powerpoint/2010/main" val="6122875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SaaS (Software as a Service) Advantages</a:t>
            </a:r>
          </a:p>
          <a:p>
            <a:r>
              <a:rPr lang="en-US" dirty="0"/>
              <a:t> The biggest benefit of using SaaS is that it is easy to set up, so you can start using it </a:t>
            </a:r>
            <a:r>
              <a:rPr lang="en-US" dirty="0" smtClean="0"/>
              <a:t>instantly</a:t>
            </a:r>
          </a:p>
          <a:p>
            <a:r>
              <a:rPr lang="en-US" dirty="0"/>
              <a:t>Compared with on-premises software, it is more </a:t>
            </a:r>
            <a:r>
              <a:rPr lang="en-US" dirty="0" smtClean="0"/>
              <a:t>cost-effective</a:t>
            </a:r>
          </a:p>
          <a:p>
            <a:r>
              <a:rPr lang="en-US" dirty="0"/>
              <a:t>You don’t need to manage or upgrade the software, as it is typically included in a SaaS subscription or </a:t>
            </a:r>
            <a:r>
              <a:rPr lang="en-US" dirty="0" smtClean="0"/>
              <a:t>purchase</a:t>
            </a:r>
          </a:p>
          <a:p>
            <a:r>
              <a:rPr lang="en-US" dirty="0"/>
              <a:t>It won’t use your local resources, such as the hard disk typically required to install desktop </a:t>
            </a:r>
            <a:r>
              <a:rPr lang="en-US" dirty="0" smtClean="0"/>
              <a:t>software</a:t>
            </a:r>
          </a:p>
          <a:p>
            <a:r>
              <a:rPr lang="en-US" dirty="0"/>
              <a:t>You can easily access it through a browser</a:t>
            </a:r>
            <a:endParaRPr lang="en-US" dirty="0" smtClean="0"/>
          </a:p>
        </p:txBody>
      </p:sp>
    </p:spTree>
    <p:extLst>
      <p:ext uri="{BB962C8B-B14F-4D97-AF65-F5344CB8AC3E}">
        <p14:creationId xmlns:p14="http://schemas.microsoft.com/office/powerpoint/2010/main" val="18912258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266" y="133564"/>
            <a:ext cx="10515600" cy="565080"/>
          </a:xfrm>
        </p:spPr>
        <p:txBody>
          <a:bodyPr>
            <a:normAutofit/>
          </a:bodyPr>
          <a:lstStyle/>
          <a:p>
            <a:r>
              <a:rPr lang="en-US" sz="2800" b="1" dirty="0" smtClean="0">
                <a:solidFill>
                  <a:srgbClr val="002060"/>
                </a:solidFill>
                <a:latin typeface="Calibri body"/>
              </a:rPr>
              <a:t>Cloud Computing Service Models</a:t>
            </a:r>
            <a:endParaRPr lang="en-IN" sz="2800" b="1" dirty="0">
              <a:solidFill>
                <a:srgbClr val="002060"/>
              </a:solidFill>
              <a:latin typeface="Calibri body"/>
            </a:endParaRPr>
          </a:p>
        </p:txBody>
      </p:sp>
      <p:sp>
        <p:nvSpPr>
          <p:cNvPr id="4" name="Content Placeholder 2"/>
          <p:cNvSpPr>
            <a:spLocks noGrp="1"/>
          </p:cNvSpPr>
          <p:nvPr>
            <p:ph idx="1"/>
          </p:nvPr>
        </p:nvSpPr>
        <p:spPr>
          <a:xfrm>
            <a:off x="653265" y="1017142"/>
            <a:ext cx="11305853" cy="5242015"/>
          </a:xfrm>
        </p:spPr>
        <p:txBody>
          <a:bodyPr>
            <a:normAutofit/>
          </a:bodyPr>
          <a:lstStyle/>
          <a:p>
            <a:pPr marL="0" indent="0">
              <a:buNone/>
            </a:pPr>
            <a:r>
              <a:rPr lang="en-US" b="1" dirty="0" smtClean="0">
                <a:solidFill>
                  <a:schemeClr val="accent2">
                    <a:lumMod val="75000"/>
                  </a:schemeClr>
                </a:solidFill>
              </a:rPr>
              <a:t>SaaS (Software as a Service) Disadvantages</a:t>
            </a:r>
          </a:p>
          <a:p>
            <a:r>
              <a:rPr lang="en-US" dirty="0"/>
              <a:t> Integrations are up to the provider, so it’s impossible to “patch” an integration on your </a:t>
            </a:r>
            <a:r>
              <a:rPr lang="en-US" dirty="0" smtClean="0"/>
              <a:t>end</a:t>
            </a:r>
          </a:p>
          <a:p>
            <a:r>
              <a:rPr lang="en-US" dirty="0"/>
              <a:t>SaaS tools may become incompatible with other tools and hardware already used in your </a:t>
            </a:r>
            <a:r>
              <a:rPr lang="en-US" dirty="0" smtClean="0"/>
              <a:t>business</a:t>
            </a:r>
          </a:p>
          <a:p>
            <a:r>
              <a:rPr lang="en-US" dirty="0"/>
              <a:t>You depend on the SaaS company’s security measures, so your data may be compromised if any leaks occur</a:t>
            </a:r>
            <a:endParaRPr lang="en-US" dirty="0" smtClean="0"/>
          </a:p>
        </p:txBody>
      </p:sp>
    </p:spTree>
    <p:extLst>
      <p:ext uri="{BB962C8B-B14F-4D97-AF65-F5344CB8AC3E}">
        <p14:creationId xmlns:p14="http://schemas.microsoft.com/office/powerpoint/2010/main" val="6339716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4521531" y="2967335"/>
            <a:ext cx="3148939" cy="923330"/>
          </a:xfrm>
          <a:prstGeom prst="rect">
            <a:avLst/>
          </a:prstGeom>
          <a:noFill/>
        </p:spPr>
        <p:txBody>
          <a:bodyPr wrap="none" lIns="91440" tIns="45720" rIns="91440" bIns="45720">
            <a:spAutoFit/>
          </a:bodyPr>
          <a:lstStyle/>
          <a:p>
            <a:pPr algn="ctr"/>
            <a:r>
              <a:rPr lang="en-US" sz="5400" b="1" cap="none" spc="0" dirty="0" smtClean="0">
                <a:ln w="9525">
                  <a:solidFill>
                    <a:schemeClr val="bg1"/>
                  </a:solidFill>
                  <a:prstDash val="solid"/>
                </a:ln>
                <a:solidFill>
                  <a:srgbClr val="002060"/>
                </a:solidFill>
                <a:effectLst>
                  <a:outerShdw blurRad="12700" dist="38100" dir="2700000" algn="tl" rotWithShape="0">
                    <a:schemeClr val="accent5">
                      <a:lumMod val="60000"/>
                      <a:lumOff val="40000"/>
                    </a:schemeClr>
                  </a:outerShdw>
                </a:effectLst>
              </a:rPr>
              <a:t>Thank You</a:t>
            </a:r>
            <a:endParaRPr lang="en-US" sz="5400" b="1" cap="none" spc="0" dirty="0">
              <a:ln w="9525">
                <a:solidFill>
                  <a:schemeClr val="bg1"/>
                </a:solidFill>
                <a:prstDash val="solid"/>
              </a:ln>
              <a:solidFill>
                <a:srgbClr val="002060"/>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9859328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1879</Words>
  <Application>Microsoft Office PowerPoint</Application>
  <PresentationFormat>Widescreen</PresentationFormat>
  <Paragraphs>199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body</vt:lpstr>
      <vt:lpstr>Calibri Light</vt:lpstr>
      <vt:lpstr>Office Theme</vt:lpstr>
      <vt:lpstr>Introduction to Cloud Computing </vt:lpstr>
      <vt:lpstr>Cloud Computing Definition</vt:lpstr>
      <vt:lpstr>Cloud Computing Benefits</vt:lpstr>
      <vt:lpstr>Cloud Computing Benefits</vt:lpstr>
      <vt:lpstr>Cloud Computing Benefits</vt:lpstr>
      <vt:lpstr>Cloud Computing Benefits</vt:lpstr>
      <vt:lpstr>Cloud Computing Benefits</vt:lpstr>
      <vt:lpstr>Cloud Computing Benefits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Deployment Models</vt:lpstr>
      <vt:lpstr>Cloud Computing Service Models</vt:lpstr>
      <vt:lpstr>Cloud Computing Service Models</vt:lpstr>
      <vt:lpstr>Cloud Computing Service Models</vt:lpstr>
      <vt:lpstr>Cloud Computing Service Models</vt:lpstr>
      <vt:lpstr>Cloud Computing Service Models</vt:lpstr>
      <vt:lpstr>Cloud Computing Service Models</vt:lpstr>
      <vt:lpstr>Cloud Computing Service Models</vt:lpstr>
      <vt:lpstr>Cloud Computing Service Models</vt:lpstr>
      <vt:lpstr>Cloud Computing Service Models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dc:creator>
  <cp:lastModifiedBy>MIT</cp:lastModifiedBy>
  <cp:revision>66</cp:revision>
  <dcterms:created xsi:type="dcterms:W3CDTF">2023-07-27T08:14:44Z</dcterms:created>
  <dcterms:modified xsi:type="dcterms:W3CDTF">2023-09-08T00:57:12Z</dcterms:modified>
</cp:coreProperties>
</file>